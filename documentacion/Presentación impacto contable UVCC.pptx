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handoutMasterIdLst>
    <p:handoutMasterId r:id="rId8"/>
  </p:handoutMasterIdLst>
  <p:sldIdLst>
    <p:sldId id="289" r:id="rId2"/>
    <p:sldId id="343" r:id="rId3"/>
    <p:sldId id="400" r:id="rId4"/>
    <p:sldId id="402" r:id="rId5"/>
    <p:sldId id="292" r:id="rId6"/>
  </p:sldIdLst>
  <p:sldSz cx="9144000" cy="5143500" type="screen16x9"/>
  <p:notesSz cx="7010400" cy="92964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28">
          <p15:clr>
            <a:srgbClr val="A4A3A4"/>
          </p15:clr>
        </p15:guide>
        <p15:guide id="4"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se Soto" initials="J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59" autoAdjust="0"/>
    <p:restoredTop sz="94434" autoAdjust="0"/>
  </p:normalViewPr>
  <p:slideViewPr>
    <p:cSldViewPr>
      <p:cViewPr varScale="1">
        <p:scale>
          <a:sx n="114" d="100"/>
          <a:sy n="114" d="100"/>
        </p:scale>
        <p:origin x="186" y="13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6" d="100"/>
          <a:sy n="56" d="100"/>
        </p:scale>
        <p:origin x="2832" y="72"/>
      </p:cViewPr>
      <p:guideLst>
        <p:guide orient="horz" pos="2880"/>
        <p:guide pos="2160"/>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s-VE"/>
          </a:p>
        </p:txBody>
      </p:sp>
      <p:sp>
        <p:nvSpPr>
          <p:cNvPr id="3" name="2 Marcador de fecha"/>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D0B480D-BC36-4DE8-90C6-7773B133A81F}" type="datetimeFigureOut">
              <a:rPr lang="es-VE" smtClean="0"/>
              <a:t>19-11-2019</a:t>
            </a:fld>
            <a:endParaRPr lang="es-VE"/>
          </a:p>
        </p:txBody>
      </p:sp>
      <p:sp>
        <p:nvSpPr>
          <p:cNvPr id="4" name="3 Marcador de pie de página"/>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s-VE"/>
          </a:p>
        </p:txBody>
      </p:sp>
      <p:sp>
        <p:nvSpPr>
          <p:cNvPr id="5" name="4 Marcador de número de diapositiva"/>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1B970423-B69A-48B2-A7B9-4A26A01FEA65}" type="slidenum">
              <a:rPr lang="es-VE" smtClean="0"/>
              <a:t>‹Nº›</a:t>
            </a:fld>
            <a:endParaRPr lang="es-VE"/>
          </a:p>
        </p:txBody>
      </p:sp>
    </p:spTree>
    <p:extLst>
      <p:ext uri="{BB962C8B-B14F-4D97-AF65-F5344CB8AC3E}">
        <p14:creationId xmlns:p14="http://schemas.microsoft.com/office/powerpoint/2010/main" val="3989986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s-VE"/>
          </a:p>
        </p:txBody>
      </p:sp>
      <p:sp>
        <p:nvSpPr>
          <p:cNvPr id="3" name="2 Marcador de fecha"/>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0A919D08-C3F0-4B6D-A31D-55FDDC0EC540}" type="datetimeFigureOut">
              <a:rPr lang="es-VE" smtClean="0"/>
              <a:t>19-11-2019</a:t>
            </a:fld>
            <a:endParaRPr lang="es-VE"/>
          </a:p>
        </p:txBody>
      </p:sp>
      <p:sp>
        <p:nvSpPr>
          <p:cNvPr id="4" name="3 Marcador de imagen de diapositiva"/>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s-VE"/>
          </a:p>
        </p:txBody>
      </p:sp>
      <p:sp>
        <p:nvSpPr>
          <p:cNvPr id="5" name="4 Marcador de notas"/>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6" name="5 Marcador de pie de página"/>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s-VE"/>
          </a:p>
        </p:txBody>
      </p:sp>
      <p:sp>
        <p:nvSpPr>
          <p:cNvPr id="7" name="6 Marcador de número de diapositiva"/>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32CD0C-BE77-44B7-BE0E-A6CA3AE3E410}" type="slidenum">
              <a:rPr lang="es-VE" smtClean="0"/>
              <a:t>‹Nº›</a:t>
            </a:fld>
            <a:endParaRPr lang="es-VE"/>
          </a:p>
        </p:txBody>
      </p:sp>
    </p:spTree>
    <p:extLst>
      <p:ext uri="{BB962C8B-B14F-4D97-AF65-F5344CB8AC3E}">
        <p14:creationId xmlns:p14="http://schemas.microsoft.com/office/powerpoint/2010/main" val="3327695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VE"/>
          </a:p>
        </p:txBody>
      </p:sp>
      <p:sp>
        <p:nvSpPr>
          <p:cNvPr id="4" name="3 Marcador de número de diapositiva"/>
          <p:cNvSpPr>
            <a:spLocks noGrp="1"/>
          </p:cNvSpPr>
          <p:nvPr>
            <p:ph type="sldNum" sz="quarter" idx="10"/>
          </p:nvPr>
        </p:nvSpPr>
        <p:spPr/>
        <p:txBody>
          <a:bodyPr/>
          <a:lstStyle/>
          <a:p>
            <a:fld id="{7832CD0C-BE77-44B7-BE0E-A6CA3AE3E410}" type="slidenum">
              <a:rPr lang="es-VE" smtClean="0"/>
              <a:t>1</a:t>
            </a:fld>
            <a:endParaRPr lang="es-VE"/>
          </a:p>
        </p:txBody>
      </p:sp>
    </p:spTree>
    <p:extLst>
      <p:ext uri="{BB962C8B-B14F-4D97-AF65-F5344CB8AC3E}">
        <p14:creationId xmlns:p14="http://schemas.microsoft.com/office/powerpoint/2010/main" val="2163146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165399"/>
            <a:ext cx="7772400" cy="1101725"/>
          </a:xfrm>
        </p:spPr>
        <p:txBody>
          <a:bodyPr/>
          <a:lstStyle>
            <a:lvl1pPr>
              <a:defRPr sz="4000"/>
            </a:lvl1pPr>
          </a:lstStyle>
          <a:p>
            <a:r>
              <a:rPr lang="es-ES" smtClean="0"/>
              <a:t>Haga clic para modificar el estilo de título del patrón</a:t>
            </a:r>
            <a:endParaRPr lang="es-VE" dirty="0"/>
          </a:p>
        </p:txBody>
      </p:sp>
      <p:sp>
        <p:nvSpPr>
          <p:cNvPr id="3" name="2 Subtítulo"/>
          <p:cNvSpPr>
            <a:spLocks noGrp="1"/>
          </p:cNvSpPr>
          <p:nvPr>
            <p:ph type="subTitle" idx="1" hasCustomPrompt="1"/>
          </p:nvPr>
        </p:nvSpPr>
        <p:spPr>
          <a:xfrm>
            <a:off x="251520" y="4299942"/>
            <a:ext cx="2552328" cy="504056"/>
          </a:xfrm>
        </p:spPr>
        <p:txBody>
          <a:bodyPr>
            <a:normAutofit/>
          </a:bodyPr>
          <a:lstStyle>
            <a:lvl1pPr marL="0" indent="0" algn="just">
              <a:spcBef>
                <a:spcPct val="0"/>
              </a:spcBef>
              <a:buFont typeface="Arial" pitchFamily="34" charset="0"/>
              <a:buNone/>
              <a:defRPr sz="12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spcBef>
                <a:spcPct val="0"/>
              </a:spcBef>
              <a:buFont typeface="Arial" pitchFamily="34" charset="0"/>
              <a:buNone/>
            </a:pPr>
            <a:r>
              <a:rPr lang="es-ES_tradnl" altLang="es-VE" b="1" i="1" dirty="0" smtClean="0">
                <a:cs typeface="Arial" pitchFamily="34" charset="0"/>
              </a:rPr>
              <a:t>Nombre de la Gerencia </a:t>
            </a:r>
          </a:p>
          <a:p>
            <a:pPr>
              <a:spcBef>
                <a:spcPct val="0"/>
              </a:spcBef>
              <a:buFont typeface="Arial" pitchFamily="34" charset="0"/>
              <a:buNone/>
            </a:pPr>
            <a:r>
              <a:rPr lang="es-ES_tradnl" altLang="es-VE" b="1" i="1" dirty="0" smtClean="0">
                <a:cs typeface="Arial" pitchFamily="34" charset="0"/>
              </a:rPr>
              <a:t>Nombre de la Vicepresidencia</a:t>
            </a:r>
            <a:endParaRPr lang="es-VE" dirty="0" smtClean="0"/>
          </a:p>
        </p:txBody>
      </p:sp>
      <p:sp>
        <p:nvSpPr>
          <p:cNvPr id="8" name="7 Marcador de contenido"/>
          <p:cNvSpPr>
            <a:spLocks noGrp="1"/>
          </p:cNvSpPr>
          <p:nvPr>
            <p:ph sz="quarter" idx="10" hasCustomPrompt="1"/>
          </p:nvPr>
        </p:nvSpPr>
        <p:spPr>
          <a:xfrm>
            <a:off x="3995936" y="4516438"/>
            <a:ext cx="1008112" cy="287337"/>
          </a:xfrm>
        </p:spPr>
        <p:txBody>
          <a:bodyPr>
            <a:noAutofit/>
          </a:bodyPr>
          <a:lstStyle>
            <a:lvl1pPr marL="0" marR="0" indent="0" algn="just" defTabSz="914400" rtl="0" eaLnBrk="1" fontAlgn="auto" latinLnBrk="0" hangingPunct="1">
              <a:lnSpc>
                <a:spcPct val="100000"/>
              </a:lnSpc>
              <a:spcBef>
                <a:spcPct val="20000"/>
              </a:spcBef>
              <a:spcAft>
                <a:spcPts val="0"/>
              </a:spcAft>
              <a:buClr>
                <a:srgbClr val="C00000"/>
              </a:buClr>
              <a:buSzTx/>
              <a:buFont typeface="Arial" panose="020B0604020202020204" pitchFamily="34" charset="0"/>
              <a:buNone/>
              <a:tabLst/>
              <a:defRPr sz="1100" b="1">
                <a:solidFill>
                  <a:schemeClr val="tx1">
                    <a:lumMod val="65000"/>
                    <a:lumOff val="35000"/>
                  </a:schemeClr>
                </a:solidFill>
                <a:latin typeface="+mj-lt"/>
              </a:defRPr>
            </a:lvl1pPr>
          </a:lstStyle>
          <a:p>
            <a:pPr marL="0" marR="0" lvl="0" indent="0" algn="l" defTabSz="914400" rtl="0" eaLnBrk="1" fontAlgn="auto" latinLnBrk="0" hangingPunct="1">
              <a:lnSpc>
                <a:spcPct val="100000"/>
              </a:lnSpc>
              <a:spcBef>
                <a:spcPct val="20000"/>
              </a:spcBef>
              <a:spcAft>
                <a:spcPts val="0"/>
              </a:spcAft>
              <a:buClr>
                <a:srgbClr val="C00000"/>
              </a:buClr>
              <a:buSzTx/>
              <a:buFont typeface="Arial" panose="020B0604020202020204" pitchFamily="34" charset="0"/>
              <a:buNone/>
              <a:tabLst/>
              <a:defRPr/>
            </a:pPr>
            <a:r>
              <a:rPr lang="es-VE" dirty="0" smtClean="0"/>
              <a:t>Mes, Año</a:t>
            </a:r>
          </a:p>
        </p:txBody>
      </p:sp>
    </p:spTree>
    <p:extLst>
      <p:ext uri="{BB962C8B-B14F-4D97-AF65-F5344CB8AC3E}">
        <p14:creationId xmlns:p14="http://schemas.microsoft.com/office/powerpoint/2010/main" val="14418545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VE" dirty="0"/>
          </a:p>
        </p:txBody>
      </p:sp>
      <p:sp>
        <p:nvSpPr>
          <p:cNvPr id="3" name="2 Marcador de contenido"/>
          <p:cNvSpPr>
            <a:spLocks noGrp="1"/>
          </p:cNvSpPr>
          <p:nvPr>
            <p:ph idx="1"/>
          </p:nvPr>
        </p:nvSpPr>
        <p:spPr/>
        <p:txBody>
          <a:bodyPr>
            <a:normAutofit/>
          </a:bodyPr>
          <a:lstStyle>
            <a:lvl1pPr>
              <a:defRPr sz="2500"/>
            </a:lvl1pPr>
            <a:lvl2pPr>
              <a:buClr>
                <a:srgbClr val="C00000"/>
              </a:buClr>
              <a:defRPr sz="2500"/>
            </a:lvl2pPr>
            <a:lvl3pPr>
              <a:buClr>
                <a:srgbClr val="C00000"/>
              </a:buClr>
              <a:defRPr sz="2500"/>
            </a:lvl3pPr>
            <a:lvl4pPr>
              <a:buClr>
                <a:srgbClr val="C00000"/>
              </a:buClr>
              <a:defRPr sz="2500"/>
            </a:lvl4pPr>
            <a:lvl5pPr>
              <a:buClr>
                <a:srgbClr val="C00000"/>
              </a:buClr>
              <a:defRPr sz="25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dirty="0"/>
          </a:p>
        </p:txBody>
      </p:sp>
    </p:spTree>
    <p:extLst>
      <p:ext uri="{BB962C8B-B14F-4D97-AF65-F5344CB8AC3E}">
        <p14:creationId xmlns:p14="http://schemas.microsoft.com/office/powerpoint/2010/main" val="21980072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VE" dirty="0"/>
          </a:p>
        </p:txBody>
      </p:sp>
      <p:sp>
        <p:nvSpPr>
          <p:cNvPr id="3" name="2 Marcador de contenido"/>
          <p:cNvSpPr>
            <a:spLocks noGrp="1"/>
          </p:cNvSpPr>
          <p:nvPr>
            <p:ph sz="half" idx="1"/>
          </p:nvPr>
        </p:nvSpPr>
        <p:spPr>
          <a:xfrm>
            <a:off x="457200" y="1200150"/>
            <a:ext cx="4038600" cy="3394075"/>
          </a:xfrm>
        </p:spPr>
        <p:txBody>
          <a:bodyPr>
            <a:normAutofit/>
          </a:bodyPr>
          <a:lstStyle>
            <a:lvl1pPr>
              <a:defRPr sz="2500"/>
            </a:lvl1pPr>
            <a:lvl2pPr>
              <a:buClr>
                <a:srgbClr val="C00000"/>
              </a:buClr>
              <a:defRPr sz="2500"/>
            </a:lvl2pPr>
            <a:lvl3pPr marL="1257300" indent="-342900">
              <a:buClr>
                <a:srgbClr val="C00000"/>
              </a:buClr>
              <a:buFont typeface="Arial" panose="020B0604020202020204" pitchFamily="34" charset="0"/>
              <a:buChar char="•"/>
              <a:defRPr sz="2500"/>
            </a:lvl3pPr>
            <a:lvl4pPr>
              <a:buClr>
                <a:srgbClr val="C00000"/>
              </a:buClr>
              <a:defRPr sz="2500"/>
            </a:lvl4pPr>
            <a:lvl5pPr>
              <a:defRPr sz="25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dirty="0"/>
          </a:p>
        </p:txBody>
      </p:sp>
      <p:sp>
        <p:nvSpPr>
          <p:cNvPr id="4" name="3 Marcador de contenido"/>
          <p:cNvSpPr>
            <a:spLocks noGrp="1"/>
          </p:cNvSpPr>
          <p:nvPr>
            <p:ph sz="half" idx="2"/>
          </p:nvPr>
        </p:nvSpPr>
        <p:spPr>
          <a:xfrm>
            <a:off x="4648200" y="1200150"/>
            <a:ext cx="4038600" cy="3394075"/>
          </a:xfrm>
        </p:spPr>
        <p:txBody>
          <a:bodyPr>
            <a:normAutofit/>
          </a:bodyPr>
          <a:lstStyle>
            <a:lvl1pPr>
              <a:defRPr sz="2500"/>
            </a:lvl1pPr>
            <a:lvl2pPr>
              <a:buClr>
                <a:srgbClr val="C00000"/>
              </a:buClr>
              <a:defRPr sz="2500"/>
            </a:lvl2pPr>
            <a:lvl3pPr>
              <a:buClr>
                <a:srgbClr val="C00000"/>
              </a:buClr>
              <a:defRPr sz="2500"/>
            </a:lvl3pPr>
            <a:lvl4pPr>
              <a:buClr>
                <a:srgbClr val="C00000"/>
              </a:buClr>
              <a:defRPr sz="2500"/>
            </a:lvl4pPr>
            <a:lvl5pPr>
              <a:buClr>
                <a:srgbClr val="C00000"/>
              </a:buClr>
              <a:defRPr sz="25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dirty="0"/>
          </a:p>
        </p:txBody>
      </p:sp>
    </p:spTree>
    <p:extLst>
      <p:ext uri="{BB962C8B-B14F-4D97-AF65-F5344CB8AC3E}">
        <p14:creationId xmlns:p14="http://schemas.microsoft.com/office/powerpoint/2010/main" val="129907467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VE" dirty="0"/>
          </a:p>
        </p:txBody>
      </p:sp>
    </p:spTree>
    <p:extLst>
      <p:ext uri="{BB962C8B-B14F-4D97-AF65-F5344CB8AC3E}">
        <p14:creationId xmlns:p14="http://schemas.microsoft.com/office/powerpoint/2010/main" val="20076327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Rectángulo"/>
          <p:cNvSpPr/>
          <p:nvPr userDrawn="1"/>
        </p:nvSpPr>
        <p:spPr>
          <a:xfrm>
            <a:off x="0" y="72008"/>
            <a:ext cx="9144000" cy="4948014"/>
          </a:xfrm>
          <a:prstGeom prst="rect">
            <a:avLst/>
          </a:prstGeom>
          <a:gradFill flip="none" rotWithShape="1">
            <a:gsLst>
              <a:gs pos="9000">
                <a:schemeClr val="bg1">
                  <a:tint val="80000"/>
                  <a:satMod val="300000"/>
                </a:schemeClr>
              </a:gs>
              <a:gs pos="95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pic>
        <p:nvPicPr>
          <p:cNvPr id="3" name="Imagen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731990"/>
            <a:ext cx="1183432" cy="258550"/>
          </a:xfrm>
          <a:prstGeom prst="rect">
            <a:avLst/>
          </a:prstGeom>
        </p:spPr>
      </p:pic>
    </p:spTree>
    <p:extLst>
      <p:ext uri="{BB962C8B-B14F-4D97-AF65-F5344CB8AC3E}">
        <p14:creationId xmlns:p14="http://schemas.microsoft.com/office/powerpoint/2010/main" val="381515834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04788"/>
            <a:ext cx="3008313" cy="871537"/>
          </a:xfrm>
        </p:spPr>
        <p:txBody>
          <a:bodyPr anchor="b"/>
          <a:lstStyle>
            <a:lvl1pPr algn="l">
              <a:defRPr sz="3000" b="1"/>
            </a:lvl1pPr>
          </a:lstStyle>
          <a:p>
            <a:r>
              <a:rPr lang="es-ES" smtClean="0"/>
              <a:t>Haga clic para modificar el estilo de título del patrón</a:t>
            </a:r>
            <a:endParaRPr lang="es-VE" dirty="0"/>
          </a:p>
        </p:txBody>
      </p:sp>
      <p:sp>
        <p:nvSpPr>
          <p:cNvPr id="3" name="2 Marcador de contenido"/>
          <p:cNvSpPr>
            <a:spLocks noGrp="1"/>
          </p:cNvSpPr>
          <p:nvPr>
            <p:ph idx="1"/>
          </p:nvPr>
        </p:nvSpPr>
        <p:spPr>
          <a:xfrm>
            <a:off x="3575050" y="204788"/>
            <a:ext cx="5111750" cy="4389437"/>
          </a:xfrm>
        </p:spPr>
        <p:txBody>
          <a:bodyPr>
            <a:normAutofit/>
          </a:bodyPr>
          <a:lstStyle>
            <a:lvl1pPr>
              <a:defRPr sz="2500"/>
            </a:lvl1pPr>
            <a:lvl2pPr>
              <a:buClr>
                <a:srgbClr val="C00000"/>
              </a:buClr>
              <a:defRPr sz="2500"/>
            </a:lvl2pPr>
            <a:lvl3pPr>
              <a:buClr>
                <a:srgbClr val="C00000"/>
              </a:buClr>
              <a:defRPr sz="2500"/>
            </a:lvl3pPr>
            <a:lvl4pPr>
              <a:buClr>
                <a:srgbClr val="C00000"/>
              </a:buClr>
              <a:defRPr sz="2500"/>
            </a:lvl4pPr>
            <a:lvl5pPr>
              <a:buClr>
                <a:srgbClr val="C00000"/>
              </a:buClr>
              <a:defRPr sz="25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dirty="0"/>
          </a:p>
        </p:txBody>
      </p:sp>
      <p:sp>
        <p:nvSpPr>
          <p:cNvPr id="4" name="3 Marcador de texto"/>
          <p:cNvSpPr>
            <a:spLocks noGrp="1"/>
          </p:cNvSpPr>
          <p:nvPr>
            <p:ph type="body" sz="half" idx="2"/>
          </p:nvPr>
        </p:nvSpPr>
        <p:spPr>
          <a:xfrm>
            <a:off x="457200" y="1076325"/>
            <a:ext cx="3008313" cy="3517900"/>
          </a:xfrm>
        </p:spPr>
        <p:txBody>
          <a:bodyPr>
            <a:normAutofit/>
          </a:bodyPr>
          <a:lstStyle>
            <a:lvl1pPr marL="0" indent="0">
              <a:buNone/>
              <a:defRPr sz="25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extLst>
      <p:ext uri="{BB962C8B-B14F-4D97-AF65-F5344CB8AC3E}">
        <p14:creationId xmlns:p14="http://schemas.microsoft.com/office/powerpoint/2010/main" val="262575918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3600450"/>
            <a:ext cx="5486400" cy="425450"/>
          </a:xfrm>
        </p:spPr>
        <p:txBody>
          <a:bodyPr anchor="b"/>
          <a:lstStyle>
            <a:lvl1pPr algn="l">
              <a:defRPr sz="2500" b="1"/>
            </a:lvl1pPr>
          </a:lstStyle>
          <a:p>
            <a:r>
              <a:rPr lang="es-ES" smtClean="0"/>
              <a:t>Haga clic para modificar el estilo de título del patrón</a:t>
            </a:r>
            <a:endParaRPr lang="es-VE" dirty="0"/>
          </a:p>
        </p:txBody>
      </p:sp>
      <p:sp>
        <p:nvSpPr>
          <p:cNvPr id="3" name="2 Marcador de posición de imagen"/>
          <p:cNvSpPr>
            <a:spLocks noGrp="1"/>
          </p:cNvSpPr>
          <p:nvPr>
            <p:ph type="pic" idx="1"/>
          </p:nvPr>
        </p:nvSpPr>
        <p:spPr>
          <a:xfrm>
            <a:off x="1792288" y="460375"/>
            <a:ext cx="5486400" cy="3086100"/>
          </a:xfrm>
        </p:spPr>
        <p:txBody>
          <a:bodyPr>
            <a:normAutofit/>
          </a:bodyPr>
          <a:lstStyle>
            <a:lvl1pPr marL="0" indent="0">
              <a:buNone/>
              <a:defRPr sz="25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s-VE" dirty="0"/>
          </a:p>
        </p:txBody>
      </p:sp>
      <p:sp>
        <p:nvSpPr>
          <p:cNvPr id="4" name="3 Marcador de texto"/>
          <p:cNvSpPr>
            <a:spLocks noGrp="1"/>
          </p:cNvSpPr>
          <p:nvPr>
            <p:ph type="body" sz="half" idx="2"/>
          </p:nvPr>
        </p:nvSpPr>
        <p:spPr>
          <a:xfrm>
            <a:off x="1792288" y="4025900"/>
            <a:ext cx="5486400" cy="603250"/>
          </a:xfrm>
        </p:spPr>
        <p:txBody>
          <a:bodyPr>
            <a:noAutofit/>
          </a:bodyPr>
          <a:lstStyle>
            <a:lvl1pPr marL="0" indent="0">
              <a:buNone/>
              <a:defRPr sz="25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extLst>
      <p:ext uri="{BB962C8B-B14F-4D97-AF65-F5344CB8AC3E}">
        <p14:creationId xmlns:p14="http://schemas.microsoft.com/office/powerpoint/2010/main" val="297386228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339503"/>
            <a:ext cx="7772400" cy="648071"/>
          </a:xfrm>
        </p:spPr>
        <p:txBody>
          <a:bodyPr/>
          <a:lstStyle>
            <a:lvl1pPr>
              <a:defRPr sz="3000"/>
            </a:lvl1pPr>
          </a:lstStyle>
          <a:p>
            <a:r>
              <a:rPr lang="es-ES" smtClean="0"/>
              <a:t>Haga clic para modificar el estilo de título del patrón</a:t>
            </a:r>
            <a:endParaRPr lang="es-VE" dirty="0"/>
          </a:p>
        </p:txBody>
      </p:sp>
      <p:sp>
        <p:nvSpPr>
          <p:cNvPr id="9" name="8 Marcador de posición de imagen"/>
          <p:cNvSpPr>
            <a:spLocks noGrp="1"/>
          </p:cNvSpPr>
          <p:nvPr>
            <p:ph type="pic" sz="quarter" idx="10"/>
          </p:nvPr>
        </p:nvSpPr>
        <p:spPr>
          <a:xfrm>
            <a:off x="684213" y="1419622"/>
            <a:ext cx="7775575" cy="2520553"/>
          </a:xfrm>
        </p:spPr>
        <p:txBody>
          <a:bodyPr/>
          <a:lstStyle/>
          <a:p>
            <a:r>
              <a:rPr lang="es-ES" smtClean="0"/>
              <a:t>Haga clic en el icono para agregar una imagen</a:t>
            </a:r>
            <a:endParaRPr lang="es-VE" dirty="0"/>
          </a:p>
        </p:txBody>
      </p:sp>
    </p:spTree>
    <p:extLst>
      <p:ext uri="{BB962C8B-B14F-4D97-AF65-F5344CB8AC3E}">
        <p14:creationId xmlns:p14="http://schemas.microsoft.com/office/powerpoint/2010/main" val="142631991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Diapositiva de título">
    <p:spTree>
      <p:nvGrpSpPr>
        <p:cNvPr id="1" name=""/>
        <p:cNvGrpSpPr/>
        <p:nvPr/>
      </p:nvGrpSpPr>
      <p:grpSpPr>
        <a:xfrm>
          <a:off x="0" y="0"/>
          <a:ext cx="0" cy="0"/>
          <a:chOff x="0" y="0"/>
          <a:chExt cx="0" cy="0"/>
        </a:xfrm>
      </p:grpSpPr>
      <p:sp>
        <p:nvSpPr>
          <p:cNvPr id="5" name="4 Rectángulo"/>
          <p:cNvSpPr/>
          <p:nvPr userDrawn="1"/>
        </p:nvSpPr>
        <p:spPr>
          <a:xfrm>
            <a:off x="0" y="12576"/>
            <a:ext cx="9144000" cy="5164038"/>
          </a:xfrm>
          <a:prstGeom prst="rect">
            <a:avLst/>
          </a:prstGeom>
          <a:gradFill flip="none" rotWithShape="1">
            <a:gsLst>
              <a:gs pos="9000">
                <a:schemeClr val="bg1">
                  <a:tint val="80000"/>
                  <a:satMod val="300000"/>
                </a:schemeClr>
              </a:gs>
              <a:gs pos="95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pic>
        <p:nvPicPr>
          <p:cNvPr id="7" name="6 Imagen"/>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78435"/>
            <a:ext cx="9144000" cy="1198179"/>
          </a:xfrm>
          <a:prstGeom prst="rect">
            <a:avLst/>
          </a:prstGeom>
        </p:spPr>
      </p:pic>
      <p:pic>
        <p:nvPicPr>
          <p:cNvPr id="8" name="7 Imag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11269" y="2098251"/>
            <a:ext cx="3321462" cy="801733"/>
          </a:xfrm>
          <a:prstGeom prst="rect">
            <a:avLst/>
          </a:prstGeom>
        </p:spPr>
      </p:pic>
    </p:spTree>
    <p:extLst>
      <p:ext uri="{BB962C8B-B14F-4D97-AF65-F5344CB8AC3E}">
        <p14:creationId xmlns:p14="http://schemas.microsoft.com/office/powerpoint/2010/main" val="4243324782"/>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Diapositiva de título">
    <p:spTree>
      <p:nvGrpSpPr>
        <p:cNvPr id="1" name=""/>
        <p:cNvGrpSpPr/>
        <p:nvPr/>
      </p:nvGrpSpPr>
      <p:grpSpPr>
        <a:xfrm>
          <a:off x="0" y="0"/>
          <a:ext cx="0" cy="0"/>
          <a:chOff x="0" y="0"/>
          <a:chExt cx="0" cy="0"/>
        </a:xfrm>
      </p:grpSpPr>
      <p:sp>
        <p:nvSpPr>
          <p:cNvPr id="4" name="3 Rectángulo"/>
          <p:cNvSpPr/>
          <p:nvPr userDrawn="1"/>
        </p:nvSpPr>
        <p:spPr>
          <a:xfrm>
            <a:off x="0" y="0"/>
            <a:ext cx="9144000" cy="5164038"/>
          </a:xfrm>
          <a:prstGeom prst="rect">
            <a:avLst/>
          </a:prstGeom>
          <a:gradFill flip="none" rotWithShape="1">
            <a:gsLst>
              <a:gs pos="9000">
                <a:schemeClr val="bg1">
                  <a:tint val="80000"/>
                  <a:satMod val="300000"/>
                </a:schemeClr>
              </a:gs>
              <a:gs pos="9500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Tree>
    <p:extLst>
      <p:ext uri="{BB962C8B-B14F-4D97-AF65-F5344CB8AC3E}">
        <p14:creationId xmlns:p14="http://schemas.microsoft.com/office/powerpoint/2010/main" val="7077513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srcRect/>
          <a:stretch>
            <a:fillRect/>
          </a:stretch>
        </p:blipFill>
        <p:spPr bwMode="auto">
          <a:xfrm>
            <a:off x="0" y="3573"/>
            <a:ext cx="9144000" cy="5136356"/>
          </a:xfrm>
          <a:prstGeom prst="rect">
            <a:avLst/>
          </a:prstGeom>
          <a:noFill/>
          <a:ln w="9525">
            <a:noFill/>
            <a:miter lim="800000"/>
            <a:headEnd/>
            <a:tailEnd/>
          </a:ln>
        </p:spPr>
      </p:pic>
      <p:sp>
        <p:nvSpPr>
          <p:cNvPr id="8" name="Rectángulo 7"/>
          <p:cNvSpPr/>
          <p:nvPr userDrawn="1"/>
        </p:nvSpPr>
        <p:spPr>
          <a:xfrm>
            <a:off x="107504" y="4574106"/>
            <a:ext cx="2057400" cy="4917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sz="1350">
              <a:solidFill>
                <a:prstClr val="white"/>
              </a:solidFill>
            </a:endParaRPr>
          </a:p>
        </p:txBody>
      </p:sp>
      <p:pic>
        <p:nvPicPr>
          <p:cNvPr id="9" name="Imagen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52320" y="4692920"/>
            <a:ext cx="1634419" cy="399109"/>
          </a:xfrm>
          <a:prstGeom prst="rect">
            <a:avLst/>
          </a:prstGeom>
        </p:spPr>
      </p:pic>
    </p:spTree>
    <p:extLst>
      <p:ext uri="{BB962C8B-B14F-4D97-AF65-F5344CB8AC3E}">
        <p14:creationId xmlns:p14="http://schemas.microsoft.com/office/powerpoint/2010/main" val="133208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9000">
              <a:schemeClr val="bg1">
                <a:tint val="80000"/>
                <a:satMod val="300000"/>
              </a:schemeClr>
            </a:gs>
            <a:gs pos="95000">
              <a:schemeClr val="bg1">
                <a:lumMod val="85000"/>
              </a:schemeClr>
            </a:gs>
          </a:gsLst>
          <a:lin ang="16200000" scaled="1"/>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518864" y="418356"/>
            <a:ext cx="8229600" cy="857250"/>
          </a:xfrm>
          <a:prstGeom prst="rect">
            <a:avLst/>
          </a:prstGeom>
        </p:spPr>
        <p:txBody>
          <a:bodyPr vert="horz" lIns="91440" tIns="45720" rIns="91440" bIns="45720" rtlCol="0" anchor="ctr">
            <a:noAutofit/>
          </a:bodyPr>
          <a:lstStyle/>
          <a:p>
            <a:r>
              <a:rPr lang="es-ES" dirty="0" smtClean="0"/>
              <a:t>Haga clic para modificar el estilo de título del patrón</a:t>
            </a:r>
            <a:endParaRPr lang="es-VE" dirty="0"/>
          </a:p>
        </p:txBody>
      </p:sp>
      <p:grpSp>
        <p:nvGrpSpPr>
          <p:cNvPr id="11" name="10 Grupo"/>
          <p:cNvGrpSpPr/>
          <p:nvPr/>
        </p:nvGrpSpPr>
        <p:grpSpPr>
          <a:xfrm>
            <a:off x="0" y="5020023"/>
            <a:ext cx="9144000" cy="144016"/>
            <a:chOff x="0" y="5066295"/>
            <a:chExt cx="9180512" cy="99315"/>
          </a:xfrm>
        </p:grpSpPr>
        <p:sp>
          <p:nvSpPr>
            <p:cNvPr id="10" name="9 Rectángulo"/>
            <p:cNvSpPr/>
            <p:nvPr userDrawn="1"/>
          </p:nvSpPr>
          <p:spPr>
            <a:xfrm>
              <a:off x="4572000" y="5066295"/>
              <a:ext cx="4608512" cy="97743"/>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pic>
          <p:nvPicPr>
            <p:cNvPr id="1028" name="Picture 4"/>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067201"/>
              <a:ext cx="4572000" cy="9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9" name="8 Imagen"/>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20272" y="4506034"/>
            <a:ext cx="1873399" cy="452200"/>
          </a:xfrm>
          <a:prstGeom prst="rect">
            <a:avLst/>
          </a:prstGeom>
        </p:spPr>
      </p:pic>
      <p:sp>
        <p:nvSpPr>
          <p:cNvPr id="6" name="5 Marcador de texto"/>
          <p:cNvSpPr>
            <a:spLocks noGrp="1"/>
          </p:cNvSpPr>
          <p:nvPr>
            <p:ph type="body" idx="1"/>
          </p:nvPr>
        </p:nvSpPr>
        <p:spPr>
          <a:xfrm>
            <a:off x="539552" y="1347614"/>
            <a:ext cx="8219256" cy="3246611"/>
          </a:xfrm>
          <a:prstGeom prst="rect">
            <a:avLst/>
          </a:prstGeom>
        </p:spPr>
        <p:txBody>
          <a:bodyPr vert="horz" lIns="91440" tIns="45720" rIns="91440" bIns="45720" rtlCol="0">
            <a:normAutofit/>
          </a:bodyPr>
          <a:lstStyle/>
          <a:p>
            <a:pPr lvl="0"/>
            <a:r>
              <a:rPr lang="es-ES" dirty="0" smtClean="0"/>
              <a:t>Haga clic para modificar el estilo de texto del patrón</a:t>
            </a:r>
          </a:p>
        </p:txBody>
      </p:sp>
    </p:spTree>
    <p:extLst>
      <p:ext uri="{BB962C8B-B14F-4D97-AF65-F5344CB8AC3E}">
        <p14:creationId xmlns:p14="http://schemas.microsoft.com/office/powerpoint/2010/main" val="248012828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9" r:id="rId3"/>
    <p:sldLayoutId id="2147483701" r:id="rId4"/>
    <p:sldLayoutId id="2147483702" r:id="rId5"/>
    <p:sldLayoutId id="2147483703" r:id="rId6"/>
    <p:sldLayoutId id="2147483704" r:id="rId7"/>
    <p:sldLayoutId id="2147483673" r:id="rId8"/>
    <p:sldLayoutId id="2147483707" r:id="rId9"/>
    <p:sldLayoutId id="2147483708" r:id="rId10"/>
    <p:sldLayoutId id="2147483734" r:id="rId11"/>
  </p:sldLayoutIdLst>
  <p:timing>
    <p:tnLst>
      <p:par>
        <p:cTn id="1" dur="indefinite" restart="never" nodeType="tmRoot"/>
      </p:par>
    </p:tnLst>
  </p:timing>
  <p:txStyles>
    <p:titleStyle>
      <a:lvl1pPr algn="ctr" defTabSz="914400" rtl="0" eaLnBrk="1" latinLnBrk="0" hangingPunct="1">
        <a:spcBef>
          <a:spcPct val="0"/>
        </a:spcBef>
        <a:buNone/>
        <a:defRPr sz="3000" b="1" u="none" strike="noStrike" kern="1200">
          <a:solidFill>
            <a:schemeClr val="tx1">
              <a:lumMod val="65000"/>
              <a:lumOff val="35000"/>
            </a:schemeClr>
          </a:solidFill>
          <a:latin typeface="Myriad Pro" pitchFamily="34" charset="0"/>
          <a:ea typeface="+mj-ea"/>
          <a:cs typeface="+mj-cs"/>
        </a:defRPr>
      </a:lvl1pPr>
    </p:titleStyle>
    <p:bodyStyle>
      <a:lvl1pPr marL="0" indent="0" algn="l" defTabSz="914400" rtl="0" eaLnBrk="1" latinLnBrk="0" hangingPunct="1">
        <a:spcBef>
          <a:spcPct val="20000"/>
        </a:spcBef>
        <a:buClr>
          <a:srgbClr val="C00000"/>
        </a:buClr>
        <a:buFont typeface="Arial" panose="020B0604020202020204" pitchFamily="34" charset="0"/>
        <a:buNone/>
        <a:defRPr sz="25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package" Target="../embeddings/Hoja_de_c_lculo_de_Microsoft_Excel1.xlsx"/><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3 CuadroTexto"/>
          <p:cNvSpPr txBox="1">
            <a:spLocks noChangeArrowheads="1"/>
          </p:cNvSpPr>
          <p:nvPr/>
        </p:nvSpPr>
        <p:spPr bwMode="auto">
          <a:xfrm>
            <a:off x="3339703" y="803672"/>
            <a:ext cx="2538413" cy="300082"/>
          </a:xfrm>
          <a:prstGeom prst="rect">
            <a:avLst/>
          </a:prstGeom>
          <a:noFill/>
          <a:ln w="9525">
            <a:noFill/>
            <a:miter lim="800000"/>
            <a:headEnd/>
            <a:tailEnd/>
          </a:ln>
        </p:spPr>
        <p:txBody>
          <a:bodyPr>
            <a:spAutoFit/>
          </a:bodyPr>
          <a:lstStyle/>
          <a:p>
            <a:pPr fontAlgn="base">
              <a:spcBef>
                <a:spcPct val="0"/>
              </a:spcBef>
              <a:spcAft>
                <a:spcPct val="0"/>
              </a:spcAft>
            </a:pPr>
            <a:endParaRPr lang="es-ES" sz="1350" dirty="0">
              <a:solidFill>
                <a:prstClr val="black"/>
              </a:solidFill>
              <a:cs typeface="Arial" charset="0"/>
            </a:endParaRPr>
          </a:p>
        </p:txBody>
      </p:sp>
      <p:sp>
        <p:nvSpPr>
          <p:cNvPr id="3" name="1 Título"/>
          <p:cNvSpPr txBox="1">
            <a:spLocks/>
          </p:cNvSpPr>
          <p:nvPr/>
        </p:nvSpPr>
        <p:spPr>
          <a:xfrm>
            <a:off x="722709" y="1635646"/>
            <a:ext cx="7772400" cy="1478359"/>
          </a:xfrm>
          <a:prstGeom prst="rect">
            <a:avLst/>
          </a:prstGeom>
        </p:spPr>
        <p:txBody>
          <a:bodyPr vert="horz" lIns="91440" tIns="45720" rIns="91440" bIns="45720" rtlCol="0" anchor="b">
            <a:noAutofit/>
          </a:bodyPr>
          <a:lstStyle>
            <a:lvl1pPr algn="l" defTabSz="914400" rtl="0" eaLnBrk="1" latinLnBrk="0" hangingPunct="1">
              <a:spcBef>
                <a:spcPct val="0"/>
              </a:spcBef>
              <a:buNone/>
              <a:defRPr sz="3000" b="1" u="none" strike="noStrike" kern="1200">
                <a:solidFill>
                  <a:schemeClr val="tx1">
                    <a:lumMod val="65000"/>
                    <a:lumOff val="35000"/>
                  </a:schemeClr>
                </a:solidFill>
                <a:latin typeface="Myriad Pro" pitchFamily="34" charset="0"/>
                <a:ea typeface="+mj-ea"/>
                <a:cs typeface="+mj-cs"/>
              </a:defRPr>
            </a:lvl1pPr>
          </a:lstStyle>
          <a:p>
            <a:pPr algn="ctr"/>
            <a:r>
              <a:rPr lang="es-VE" b="0" dirty="0" smtClean="0">
                <a:solidFill>
                  <a:srgbClr val="C00000"/>
                </a:solidFill>
                <a:latin typeface="Britannic Bold" panose="020B0903060703020204" pitchFamily="34" charset="0"/>
              </a:rPr>
              <a:t>CONTABILIZACIÓN DE CRÉDITOS EXPRESADOS EN UNIDAD DE VALOR DE CREDITO COMERCIAL</a:t>
            </a:r>
          </a:p>
          <a:p>
            <a:pPr algn="ctr"/>
            <a:r>
              <a:rPr lang="es-VE" b="0" dirty="0" smtClean="0">
                <a:solidFill>
                  <a:srgbClr val="C00000"/>
                </a:solidFill>
                <a:latin typeface="Britannic Bold" panose="020B0903060703020204" pitchFamily="34" charset="0"/>
              </a:rPr>
              <a:t>Noviembre 2019.</a:t>
            </a:r>
            <a:endParaRPr lang="es-VE" b="0" dirty="0">
              <a:solidFill>
                <a:srgbClr val="C00000"/>
              </a:solidFill>
              <a:latin typeface="Britannic Bold" panose="020B0903060703020204" pitchFamily="34" charset="0"/>
            </a:endParaRPr>
          </a:p>
        </p:txBody>
      </p:sp>
      <p:cxnSp>
        <p:nvCxnSpPr>
          <p:cNvPr id="4" name="Conector recto 3"/>
          <p:cNvCxnSpPr/>
          <p:nvPr/>
        </p:nvCxnSpPr>
        <p:spPr>
          <a:xfrm>
            <a:off x="0" y="1203598"/>
            <a:ext cx="9144000" cy="0"/>
          </a:xfrm>
          <a:prstGeom prst="line">
            <a:avLst/>
          </a:prstGeom>
        </p:spPr>
        <p:style>
          <a:lnRef idx="3">
            <a:schemeClr val="dk1"/>
          </a:lnRef>
          <a:fillRef idx="0">
            <a:schemeClr val="dk1"/>
          </a:fillRef>
          <a:effectRef idx="2">
            <a:schemeClr val="dk1"/>
          </a:effectRef>
          <a:fontRef idx="minor">
            <a:schemeClr val="tx1"/>
          </a:fontRef>
        </p:style>
      </p:cxnSp>
      <p:cxnSp>
        <p:nvCxnSpPr>
          <p:cNvPr id="6" name="Conector recto 5"/>
          <p:cNvCxnSpPr/>
          <p:nvPr/>
        </p:nvCxnSpPr>
        <p:spPr>
          <a:xfrm>
            <a:off x="-36512" y="3291830"/>
            <a:ext cx="9144000" cy="0"/>
          </a:xfrm>
          <a:prstGeom prst="line">
            <a:avLst/>
          </a:prstGeom>
        </p:spPr>
        <p:style>
          <a:lnRef idx="3">
            <a:schemeClr val="dk1"/>
          </a:lnRef>
          <a:fillRef idx="0">
            <a:schemeClr val="dk1"/>
          </a:fillRef>
          <a:effectRef idx="2">
            <a:schemeClr val="dk1"/>
          </a:effectRef>
          <a:fontRef idx="minor">
            <a:schemeClr val="tx1"/>
          </a:fontRef>
        </p:style>
      </p:cxnSp>
      <p:sp>
        <p:nvSpPr>
          <p:cNvPr id="5" name="CuadroTexto 4"/>
          <p:cNvSpPr txBox="1"/>
          <p:nvPr/>
        </p:nvSpPr>
        <p:spPr>
          <a:xfrm>
            <a:off x="-36512" y="4718781"/>
            <a:ext cx="3672408" cy="307777"/>
          </a:xfrm>
          <a:prstGeom prst="rect">
            <a:avLst/>
          </a:prstGeom>
          <a:noFill/>
        </p:spPr>
        <p:txBody>
          <a:bodyPr wrap="square" rtlCol="0">
            <a:spAutoFit/>
          </a:bodyPr>
          <a:lstStyle/>
          <a:p>
            <a:r>
              <a:rPr lang="es-VE" sz="1400" i="1" dirty="0" smtClean="0">
                <a:solidFill>
                  <a:schemeClr val="tx1">
                    <a:lumMod val="50000"/>
                    <a:lumOff val="50000"/>
                  </a:schemeClr>
                </a:solidFill>
              </a:rPr>
              <a:t>Vicepresidencia de Contraloría.</a:t>
            </a:r>
            <a:endParaRPr lang="es-VE" sz="1400" i="1" dirty="0">
              <a:solidFill>
                <a:schemeClr val="tx1">
                  <a:lumMod val="50000"/>
                  <a:lumOff val="50000"/>
                </a:schemeClr>
              </a:solidFill>
            </a:endParaRPr>
          </a:p>
        </p:txBody>
      </p:sp>
    </p:spTree>
    <p:extLst>
      <p:ext uri="{BB962C8B-B14F-4D97-AF65-F5344CB8AC3E}">
        <p14:creationId xmlns:p14="http://schemas.microsoft.com/office/powerpoint/2010/main" val="3789065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0" y="5358"/>
            <a:ext cx="8734567" cy="553998"/>
          </a:xfrm>
          <a:prstGeom prst="rect">
            <a:avLst/>
          </a:prstGeom>
          <a:noFill/>
        </p:spPr>
        <p:txBody>
          <a:bodyPr wrap="square" rtlCol="0">
            <a:spAutoFit/>
          </a:bodyPr>
          <a:lstStyle>
            <a:defPPr>
              <a:defRPr lang="es-VE"/>
            </a:defPPr>
            <a:lvl1pPr>
              <a:defRPr sz="3200">
                <a:solidFill>
                  <a:srgbClr val="C00000"/>
                </a:solidFill>
                <a:latin typeface="Britannic Bold" panose="020B0903060703020204" pitchFamily="34" charset="0"/>
                <a:cs typeface="Narkisim" panose="020E0502050101010101" pitchFamily="34" charset="-79"/>
              </a:defRPr>
            </a:lvl1pPr>
          </a:lstStyle>
          <a:p>
            <a:pPr>
              <a:spcBef>
                <a:spcPct val="0"/>
              </a:spcBef>
            </a:pPr>
            <a:r>
              <a:rPr lang="es-VE" sz="3000" dirty="0" smtClean="0">
                <a:ea typeface="+mj-ea"/>
                <a:cs typeface="+mj-cs"/>
              </a:rPr>
              <a:t>CONTABILIZACIÓN DE CRÉDITOS INDEXADOS</a:t>
            </a:r>
          </a:p>
        </p:txBody>
      </p:sp>
      <p:cxnSp>
        <p:nvCxnSpPr>
          <p:cNvPr id="17" name="Conector recto 16"/>
          <p:cNvCxnSpPr/>
          <p:nvPr/>
        </p:nvCxnSpPr>
        <p:spPr>
          <a:xfrm>
            <a:off x="35496" y="555526"/>
            <a:ext cx="7488832" cy="0"/>
          </a:xfrm>
          <a:prstGeom prst="line">
            <a:avLst/>
          </a:prstGeom>
        </p:spPr>
        <p:style>
          <a:lnRef idx="3">
            <a:schemeClr val="dk1"/>
          </a:lnRef>
          <a:fillRef idx="0">
            <a:schemeClr val="dk1"/>
          </a:fillRef>
          <a:effectRef idx="2">
            <a:schemeClr val="dk1"/>
          </a:effectRef>
          <a:fontRef idx="minor">
            <a:schemeClr val="tx1"/>
          </a:fontRef>
        </p:style>
      </p:cxnSp>
      <p:sp>
        <p:nvSpPr>
          <p:cNvPr id="6" name="Rectángulo 5"/>
          <p:cNvSpPr/>
          <p:nvPr/>
        </p:nvSpPr>
        <p:spPr>
          <a:xfrm>
            <a:off x="251520" y="627534"/>
            <a:ext cx="7920880" cy="4493538"/>
          </a:xfrm>
          <a:prstGeom prst="rect">
            <a:avLst/>
          </a:prstGeom>
        </p:spPr>
        <p:txBody>
          <a:bodyPr wrap="square">
            <a:spAutoFit/>
          </a:bodyPr>
          <a:lstStyle/>
          <a:p>
            <a:endParaRPr lang="es-VE" sz="1200" dirty="0">
              <a:solidFill>
                <a:srgbClr val="000000"/>
              </a:solidFill>
              <a:latin typeface="Tahoma" panose="020B0604030504040204" pitchFamily="34" charset="0"/>
            </a:endParaRPr>
          </a:p>
          <a:p>
            <a:r>
              <a:rPr lang="es-VE" sz="1200" dirty="0">
                <a:solidFill>
                  <a:srgbClr val="000000"/>
                </a:solidFill>
                <a:latin typeface="Tahoma" panose="020B0604030504040204" pitchFamily="34" charset="0"/>
              </a:rPr>
              <a:t> </a:t>
            </a:r>
            <a:r>
              <a:rPr lang="es-VE" sz="1200" b="1" dirty="0" smtClean="0">
                <a:solidFill>
                  <a:srgbClr val="000000"/>
                </a:solidFill>
                <a:latin typeface="Tahoma" panose="020B0604030504040204" pitchFamily="34" charset="0"/>
              </a:rPr>
              <a:t>PARA LA CONTABILIZACIÓN DEL CAPITAL SE CREAN LAS SUBCUENTAS:</a:t>
            </a:r>
          </a:p>
          <a:p>
            <a:endParaRPr lang="es-VE" sz="1200" b="1" dirty="0">
              <a:solidFill>
                <a:srgbClr val="000000"/>
              </a:solidFill>
              <a:latin typeface="Tahoma" panose="020B0604030504040204" pitchFamily="34" charset="0"/>
            </a:endParaRPr>
          </a:p>
          <a:p>
            <a:r>
              <a:rPr lang="es-VE" sz="1000" b="1" dirty="0" smtClean="0">
                <a:solidFill>
                  <a:srgbClr val="000000"/>
                </a:solidFill>
                <a:latin typeface="Tahoma" panose="020B0604030504040204" pitchFamily="34" charset="0"/>
              </a:rPr>
              <a:t>SUBCUENTA </a:t>
            </a:r>
            <a:r>
              <a:rPr lang="es-VE" sz="1000" b="1" dirty="0">
                <a:solidFill>
                  <a:srgbClr val="000000"/>
                </a:solidFill>
                <a:latin typeface="Tahoma" panose="020B0604030504040204" pitchFamily="34" charset="0"/>
              </a:rPr>
              <a:t>131.35 Créditos comerciales vigentes objeto de las medidas establecidas por el BCV </a:t>
            </a:r>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DESCRIPCIÓN En esta subcuenta se registran los saldos vigentes correspondientes a los créditos otorgados por las Instituciones Bancarias enmarcados en la Resolución Nº 19-09-01 de fecha 05 de septiembre de 2019, emanada del Banco Central de Venezuela. </a:t>
            </a:r>
            <a:endParaRPr lang="es-VE" sz="1000" b="1" dirty="0" smtClean="0">
              <a:solidFill>
                <a:srgbClr val="000000"/>
              </a:solidFill>
              <a:latin typeface="Tahoma" panose="020B0604030504040204" pitchFamily="34" charset="0"/>
            </a:endParaRPr>
          </a:p>
          <a:p>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131.36 Variación de créditos comerciales vigentes determinada según lo establecido por el BCV </a:t>
            </a:r>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DESCRIPCIÓN En esta subcuenta se registran las variaciones de los saldos vigentes correspondientes a los créditos otorgados por las Instituciones Bancarias enmarcados en la Resolución Nº 19-09-01 de fecha 05 de septiembre de 2019, emanada del Banco Central de Venezuela. </a:t>
            </a:r>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SUBSUBCUENTAS </a:t>
            </a:r>
            <a:endParaRPr lang="es-VE" sz="1000" b="1" dirty="0" smtClean="0">
              <a:solidFill>
                <a:srgbClr val="000000"/>
              </a:solidFill>
              <a:latin typeface="Tahoma" panose="020B0604030504040204" pitchFamily="34" charset="0"/>
            </a:endParaRPr>
          </a:p>
          <a:p>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131.36.M.01 Incremento por créditos comerciales vigentes por la variación determinada según lo establecido por el BCV </a:t>
            </a:r>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131.36.M.02 Disminución por créditos comerciales vigentes por la variación determinada según lo establecido por el BCV </a:t>
            </a:r>
            <a:endParaRPr lang="es-VE" sz="1000" b="1" dirty="0" smtClean="0">
              <a:solidFill>
                <a:srgbClr val="000000"/>
              </a:solidFill>
              <a:latin typeface="Tahoma" panose="020B0604030504040204" pitchFamily="34" charset="0"/>
            </a:endParaRPr>
          </a:p>
          <a:p>
            <a:endParaRPr lang="es-VE" sz="1000" b="1" dirty="0">
              <a:solidFill>
                <a:srgbClr val="000000"/>
              </a:solidFill>
              <a:latin typeface="Tahoma" panose="020B0604030504040204" pitchFamily="34" charset="0"/>
            </a:endParaRPr>
          </a:p>
          <a:p>
            <a:endParaRPr lang="es-VE" sz="1000" b="1" dirty="0" smtClean="0">
              <a:solidFill>
                <a:srgbClr val="000000"/>
              </a:solidFill>
              <a:latin typeface="Tahoma" panose="020B0604030504040204" pitchFamily="34" charset="0"/>
            </a:endParaRPr>
          </a:p>
          <a:p>
            <a:r>
              <a:rPr lang="es-VE" sz="1000" b="1" dirty="0" smtClean="0">
                <a:solidFill>
                  <a:srgbClr val="000000"/>
                </a:solidFill>
                <a:latin typeface="Tahoma" panose="020B0604030504040204" pitchFamily="34" charset="0"/>
              </a:rPr>
              <a:t>PARA LA </a:t>
            </a:r>
            <a:r>
              <a:rPr lang="es-VE" sz="1000" b="1" dirty="0">
                <a:solidFill>
                  <a:srgbClr val="000000"/>
                </a:solidFill>
                <a:latin typeface="Tahoma" panose="020B0604030504040204" pitchFamily="34" charset="0"/>
              </a:rPr>
              <a:t>CONTABILIZACIÓN </a:t>
            </a:r>
            <a:r>
              <a:rPr lang="es-VE" sz="1000" b="1" dirty="0" smtClean="0">
                <a:solidFill>
                  <a:srgbClr val="000000"/>
                </a:solidFill>
                <a:latin typeface="Tahoma" panose="020B0604030504040204" pitchFamily="34" charset="0"/>
              </a:rPr>
              <a:t>DE LAS VARIACIONES DE </a:t>
            </a:r>
            <a:r>
              <a:rPr lang="es-VE" sz="1000" b="1" dirty="0">
                <a:solidFill>
                  <a:srgbClr val="000000"/>
                </a:solidFill>
                <a:latin typeface="Tahoma" panose="020B0604030504040204" pitchFamily="34" charset="0"/>
              </a:rPr>
              <a:t>CAPITAL </a:t>
            </a:r>
            <a:r>
              <a:rPr lang="es-VE" sz="1000" b="1" dirty="0" smtClean="0">
                <a:solidFill>
                  <a:srgbClr val="000000"/>
                </a:solidFill>
                <a:latin typeface="Tahoma" panose="020B0604030504040204" pitchFamily="34" charset="0"/>
              </a:rPr>
              <a:t>DEL CRÉDITO SE </a:t>
            </a:r>
            <a:r>
              <a:rPr lang="es-VE" sz="1000" b="1" dirty="0">
                <a:solidFill>
                  <a:srgbClr val="000000"/>
                </a:solidFill>
                <a:latin typeface="Tahoma" panose="020B0604030504040204" pitchFamily="34" charset="0"/>
              </a:rPr>
              <a:t>CREAN </a:t>
            </a:r>
            <a:r>
              <a:rPr lang="es-VE" sz="1000" b="1" dirty="0" smtClean="0">
                <a:solidFill>
                  <a:srgbClr val="000000"/>
                </a:solidFill>
                <a:latin typeface="Tahoma" panose="020B0604030504040204" pitchFamily="34" charset="0"/>
              </a:rPr>
              <a:t>LA SUBCUENTA:</a:t>
            </a:r>
            <a:endParaRPr lang="es-VE" sz="1000" b="1" dirty="0">
              <a:solidFill>
                <a:srgbClr val="000000"/>
              </a:solidFill>
              <a:latin typeface="Tahoma" panose="020B0604030504040204" pitchFamily="34" charset="0"/>
            </a:endParaRPr>
          </a:p>
          <a:p>
            <a:endParaRPr lang="es-VE" sz="1000" b="1" dirty="0">
              <a:solidFill>
                <a:srgbClr val="000000"/>
              </a:solidFill>
              <a:latin typeface="Tahoma" panose="020B0604030504040204" pitchFamily="34" charset="0"/>
            </a:endParaRPr>
          </a:p>
          <a:p>
            <a:r>
              <a:rPr lang="es-VE" sz="1200" dirty="0" smtClean="0">
                <a:solidFill>
                  <a:srgbClr val="000000"/>
                </a:solidFill>
                <a:latin typeface="Tahoma" panose="020B0604030504040204" pitchFamily="34" charset="0"/>
              </a:rPr>
              <a:t> </a:t>
            </a:r>
            <a:r>
              <a:rPr lang="es-VE" sz="1000" b="1" dirty="0">
                <a:solidFill>
                  <a:srgbClr val="000000"/>
                </a:solidFill>
                <a:latin typeface="Tahoma" panose="020B0604030504040204" pitchFamily="34" charset="0"/>
              </a:rPr>
              <a:t>SUBCUENTA 358.01 Variación de créditos comerciales determinada según lo establecido por el BCV </a:t>
            </a:r>
            <a:endParaRPr lang="es-VE" sz="1000" dirty="0">
              <a:solidFill>
                <a:srgbClr val="000000"/>
              </a:solidFill>
              <a:latin typeface="Tahoma" panose="020B0604030504040204" pitchFamily="34" charset="0"/>
            </a:endParaRPr>
          </a:p>
          <a:p>
            <a:endParaRPr lang="es-VE" sz="1000" b="1" dirty="0" smtClean="0">
              <a:solidFill>
                <a:srgbClr val="000000"/>
              </a:solidFill>
              <a:latin typeface="Tahoma" panose="020B0604030504040204" pitchFamily="34" charset="0"/>
            </a:endParaRPr>
          </a:p>
          <a:p>
            <a:r>
              <a:rPr lang="es-VE" sz="1000" b="1" dirty="0" smtClean="0">
                <a:solidFill>
                  <a:srgbClr val="000000"/>
                </a:solidFill>
                <a:latin typeface="Tahoma" panose="020B0604030504040204" pitchFamily="34" charset="0"/>
              </a:rPr>
              <a:t>DEPCRIPCIÓN </a:t>
            </a:r>
            <a:r>
              <a:rPr lang="es-VE" sz="1000" b="1" dirty="0">
                <a:solidFill>
                  <a:srgbClr val="000000"/>
                </a:solidFill>
                <a:latin typeface="Tahoma" panose="020B0604030504040204" pitchFamily="34" charset="0"/>
              </a:rPr>
              <a:t>En esta subcuenta se registran los aumentos y disminuciones que se originen en el capital de los créditos otorgados por las Instituciones Bancarias enmarcados en la Resolución Nº 19-09-01 de fecha 05 de septiembre de 2019</a:t>
            </a:r>
            <a:r>
              <a:rPr lang="es-VE" sz="900" b="1" dirty="0">
                <a:solidFill>
                  <a:srgbClr val="000000"/>
                </a:solidFill>
                <a:latin typeface="Tahoma" panose="020B0604030504040204" pitchFamily="34" charset="0"/>
              </a:rPr>
              <a:t>, </a:t>
            </a:r>
            <a:r>
              <a:rPr lang="es-VE" sz="1000" b="1" dirty="0">
                <a:solidFill>
                  <a:srgbClr val="000000"/>
                </a:solidFill>
                <a:latin typeface="Tahoma" panose="020B0604030504040204" pitchFamily="34" charset="0"/>
              </a:rPr>
              <a:t>emanada del Banco Central de Venezuela. </a:t>
            </a:r>
          </a:p>
          <a:p>
            <a:endParaRPr lang="es-VE" sz="1000" b="1" dirty="0" smtClean="0">
              <a:solidFill>
                <a:srgbClr val="000000"/>
              </a:solidFill>
              <a:latin typeface="Tahoma" panose="020B0604030504040204" pitchFamily="34" charset="0"/>
            </a:endParaRPr>
          </a:p>
          <a:p>
            <a:endParaRPr lang="es-VE" dirty="0"/>
          </a:p>
        </p:txBody>
      </p:sp>
    </p:spTree>
    <p:extLst>
      <p:ext uri="{BB962C8B-B14F-4D97-AF65-F5344CB8AC3E}">
        <p14:creationId xmlns:p14="http://schemas.microsoft.com/office/powerpoint/2010/main" val="457520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0" y="5358"/>
            <a:ext cx="8734567" cy="553998"/>
          </a:xfrm>
          <a:prstGeom prst="rect">
            <a:avLst/>
          </a:prstGeom>
          <a:noFill/>
        </p:spPr>
        <p:txBody>
          <a:bodyPr wrap="square" rtlCol="0">
            <a:spAutoFit/>
          </a:bodyPr>
          <a:lstStyle>
            <a:defPPr>
              <a:defRPr lang="es-VE"/>
            </a:defPPr>
            <a:lvl1pPr>
              <a:defRPr sz="3200">
                <a:solidFill>
                  <a:srgbClr val="C00000"/>
                </a:solidFill>
                <a:latin typeface="Britannic Bold" panose="020B0903060703020204" pitchFamily="34" charset="0"/>
                <a:cs typeface="Narkisim" panose="020E0502050101010101" pitchFamily="34" charset="-79"/>
              </a:defRPr>
            </a:lvl1pPr>
          </a:lstStyle>
          <a:p>
            <a:pPr>
              <a:spcBef>
                <a:spcPct val="0"/>
              </a:spcBef>
            </a:pPr>
            <a:r>
              <a:rPr lang="es-VE" sz="3000" dirty="0" smtClean="0">
                <a:ea typeface="+mj-ea"/>
                <a:cs typeface="+mj-cs"/>
              </a:rPr>
              <a:t>CONTABILIZACION DE CRÉDITOS UVCC</a:t>
            </a:r>
            <a:endParaRPr lang="es-VE" sz="3000" dirty="0">
              <a:ea typeface="+mj-ea"/>
              <a:cs typeface="+mj-cs"/>
            </a:endParaRPr>
          </a:p>
        </p:txBody>
      </p:sp>
      <p:cxnSp>
        <p:nvCxnSpPr>
          <p:cNvPr id="17" name="Conector recto 16"/>
          <p:cNvCxnSpPr/>
          <p:nvPr/>
        </p:nvCxnSpPr>
        <p:spPr>
          <a:xfrm>
            <a:off x="35496" y="555526"/>
            <a:ext cx="7488832" cy="0"/>
          </a:xfrm>
          <a:prstGeom prst="line">
            <a:avLst/>
          </a:prstGeom>
        </p:spPr>
        <p:style>
          <a:lnRef idx="3">
            <a:schemeClr val="dk1"/>
          </a:lnRef>
          <a:fillRef idx="0">
            <a:schemeClr val="dk1"/>
          </a:fillRef>
          <a:effectRef idx="2">
            <a:schemeClr val="dk1"/>
          </a:effectRef>
          <a:fontRef idx="minor">
            <a:schemeClr val="tx1"/>
          </a:fontRef>
        </p:style>
      </p:cxnSp>
      <p:sp>
        <p:nvSpPr>
          <p:cNvPr id="2" name="Rectángulo 1"/>
          <p:cNvSpPr/>
          <p:nvPr/>
        </p:nvSpPr>
        <p:spPr>
          <a:xfrm>
            <a:off x="197767" y="987574"/>
            <a:ext cx="8339031" cy="984885"/>
          </a:xfrm>
          <a:prstGeom prst="rect">
            <a:avLst/>
          </a:prstGeom>
        </p:spPr>
        <p:txBody>
          <a:bodyPr wrap="square">
            <a:spAutoFit/>
          </a:bodyPr>
          <a:lstStyle/>
          <a:p>
            <a:r>
              <a:rPr lang="es-VE" sz="1200" b="1" dirty="0">
                <a:solidFill>
                  <a:srgbClr val="000000"/>
                </a:solidFill>
                <a:latin typeface="Tahoma" panose="020B0604030504040204" pitchFamily="34" charset="0"/>
              </a:rPr>
              <a:t>PARA LA CONTABILIZACIÓN </a:t>
            </a:r>
            <a:r>
              <a:rPr lang="es-VE" sz="1200" b="1" dirty="0" smtClean="0">
                <a:solidFill>
                  <a:srgbClr val="000000"/>
                </a:solidFill>
                <a:latin typeface="Tahoma" panose="020B0604030504040204" pitchFamily="34" charset="0"/>
              </a:rPr>
              <a:t>DEL DEVENGO DE LOS INTERESES DE CREDITO COMERCIAL SE  CREAN LAS SUBCUENTAS:</a:t>
            </a:r>
            <a:endParaRPr lang="es-VE" sz="1200" b="1" dirty="0">
              <a:solidFill>
                <a:srgbClr val="000000"/>
              </a:solidFill>
              <a:latin typeface="Tahoma" panose="020B0604030504040204" pitchFamily="34" charset="0"/>
            </a:endParaRPr>
          </a:p>
          <a:p>
            <a:endParaRPr lang="es-VE" sz="1200" dirty="0">
              <a:solidFill>
                <a:srgbClr val="000000"/>
              </a:solidFill>
              <a:latin typeface="Tahoma" panose="020B0604030504040204" pitchFamily="34" charset="0"/>
            </a:endParaRPr>
          </a:p>
          <a:p>
            <a:r>
              <a:rPr lang="es-VE" sz="1000" b="1" dirty="0" smtClean="0">
                <a:solidFill>
                  <a:srgbClr val="000000"/>
                </a:solidFill>
                <a:latin typeface="Tahoma" panose="020B0604030504040204" pitchFamily="34" charset="0"/>
              </a:rPr>
              <a:t>513.01.M.35 </a:t>
            </a:r>
            <a:r>
              <a:rPr lang="es-VE" sz="1000" b="1" dirty="0">
                <a:solidFill>
                  <a:srgbClr val="000000"/>
                </a:solidFill>
                <a:latin typeface="Tahoma" panose="020B0604030504040204" pitchFamily="34" charset="0"/>
              </a:rPr>
              <a:t>Rendimientos por los créditos comerciales vigentes objeto de las medidas establecidas por el BCV </a:t>
            </a:r>
            <a:endParaRPr lang="es-VE" sz="1000" dirty="0">
              <a:solidFill>
                <a:srgbClr val="000000"/>
              </a:solidFill>
              <a:latin typeface="Tahoma" panose="020B0604030504040204" pitchFamily="34" charset="0"/>
            </a:endParaRPr>
          </a:p>
          <a:p>
            <a:r>
              <a:rPr lang="es-VE" sz="1000" b="1" dirty="0">
                <a:solidFill>
                  <a:srgbClr val="000000"/>
                </a:solidFill>
                <a:latin typeface="Tahoma" panose="020B0604030504040204" pitchFamily="34" charset="0"/>
              </a:rPr>
              <a:t>513.01.M.36 Rendimientos por variación de créditos comerciales vigentes determinada según lo establecido por el BCV </a:t>
            </a:r>
            <a:endParaRPr lang="es-VE" dirty="0"/>
          </a:p>
        </p:txBody>
      </p:sp>
      <p:sp>
        <p:nvSpPr>
          <p:cNvPr id="6" name="Rectángulo 5"/>
          <p:cNvSpPr/>
          <p:nvPr/>
        </p:nvSpPr>
        <p:spPr>
          <a:xfrm>
            <a:off x="71114" y="2101507"/>
            <a:ext cx="8339031" cy="1661993"/>
          </a:xfrm>
          <a:prstGeom prst="rect">
            <a:avLst/>
          </a:prstGeom>
        </p:spPr>
        <p:txBody>
          <a:bodyPr wrap="square">
            <a:spAutoFit/>
          </a:bodyPr>
          <a:lstStyle/>
          <a:p>
            <a:r>
              <a:rPr lang="es-VE" sz="1200" b="1" dirty="0" smtClean="0">
                <a:solidFill>
                  <a:srgbClr val="000000"/>
                </a:solidFill>
                <a:latin typeface="Tahoma" panose="020B0604030504040204" pitchFamily="34" charset="0"/>
              </a:rPr>
              <a:t>EN RELACIÓN CON EL IMPACTO EN RESULTADOS TENEMOS:</a:t>
            </a:r>
          </a:p>
          <a:p>
            <a:endParaRPr lang="es-VE" sz="1200" b="1" dirty="0" smtClean="0">
              <a:solidFill>
                <a:srgbClr val="000000"/>
              </a:solidFill>
              <a:latin typeface="Tahoma" panose="020B0604030504040204" pitchFamily="34" charset="0"/>
            </a:endParaRPr>
          </a:p>
          <a:p>
            <a:r>
              <a:rPr lang="es-VE" sz="1200" b="1" dirty="0" smtClean="0">
                <a:solidFill>
                  <a:srgbClr val="000000"/>
                </a:solidFill>
                <a:latin typeface="Tahoma" panose="020B0604030504040204" pitchFamily="34" charset="0"/>
              </a:rPr>
              <a:t>Con la implementación de este producto de crédito hay una disminución importante en el cobro de la comisión flat, ya que la misma será de hasta el cero coma cincuenta porciento (0,50%) del monto del crédito</a:t>
            </a:r>
            <a:endParaRPr lang="es-VE" sz="1200" b="1" dirty="0">
              <a:solidFill>
                <a:srgbClr val="000000"/>
              </a:solidFill>
              <a:latin typeface="Tahoma" panose="020B0604030504040204" pitchFamily="34" charset="0"/>
            </a:endParaRPr>
          </a:p>
          <a:p>
            <a:endParaRPr lang="es-VE" dirty="0" smtClean="0"/>
          </a:p>
          <a:p>
            <a:r>
              <a:rPr lang="es-VE" sz="1200" b="1" dirty="0">
                <a:solidFill>
                  <a:srgbClr val="000000"/>
                </a:solidFill>
                <a:latin typeface="Tahoma" panose="020B0604030504040204" pitchFamily="34" charset="0"/>
              </a:rPr>
              <a:t>En relación con la tasa de </a:t>
            </a:r>
            <a:r>
              <a:rPr lang="es-VE" sz="1200" b="1" dirty="0" smtClean="0">
                <a:solidFill>
                  <a:srgbClr val="000000"/>
                </a:solidFill>
                <a:latin typeface="Tahoma" panose="020B0604030504040204" pitchFamily="34" charset="0"/>
              </a:rPr>
              <a:t>interés, la misma no podrá exceder del seis por ciento (6%) anual ni ser inferior al cuatro por ciento (4%) anual.</a:t>
            </a:r>
            <a:endParaRPr lang="es-VE" sz="1200" b="1" dirty="0">
              <a:solidFill>
                <a:srgbClr val="000000"/>
              </a:solidFill>
              <a:latin typeface="Tahoma" panose="020B0604030504040204" pitchFamily="34" charset="0"/>
            </a:endParaRPr>
          </a:p>
        </p:txBody>
      </p:sp>
    </p:spTree>
    <p:extLst>
      <p:ext uri="{BB962C8B-B14F-4D97-AF65-F5344CB8AC3E}">
        <p14:creationId xmlns:p14="http://schemas.microsoft.com/office/powerpoint/2010/main" val="1528999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0" y="5358"/>
            <a:ext cx="8734567" cy="553998"/>
          </a:xfrm>
          <a:prstGeom prst="rect">
            <a:avLst/>
          </a:prstGeom>
          <a:noFill/>
        </p:spPr>
        <p:txBody>
          <a:bodyPr wrap="square" rtlCol="0">
            <a:spAutoFit/>
          </a:bodyPr>
          <a:lstStyle>
            <a:defPPr>
              <a:defRPr lang="es-VE"/>
            </a:defPPr>
            <a:lvl1pPr>
              <a:defRPr sz="3200">
                <a:solidFill>
                  <a:srgbClr val="C00000"/>
                </a:solidFill>
                <a:latin typeface="Britannic Bold" panose="020B0903060703020204" pitchFamily="34" charset="0"/>
                <a:cs typeface="Narkisim" panose="020E0502050101010101" pitchFamily="34" charset="-79"/>
              </a:defRPr>
            </a:lvl1pPr>
          </a:lstStyle>
          <a:p>
            <a:pPr>
              <a:spcBef>
                <a:spcPct val="0"/>
              </a:spcBef>
            </a:pPr>
            <a:r>
              <a:rPr lang="es-VE" sz="3000" dirty="0" smtClean="0">
                <a:ea typeface="+mj-ea"/>
                <a:cs typeface="+mj-cs"/>
              </a:rPr>
              <a:t>CONTABILIZACION DE CRÉDITOS UVCC</a:t>
            </a:r>
            <a:endParaRPr lang="es-VE" sz="3000" dirty="0">
              <a:ea typeface="+mj-ea"/>
              <a:cs typeface="+mj-cs"/>
            </a:endParaRPr>
          </a:p>
        </p:txBody>
      </p:sp>
      <p:cxnSp>
        <p:nvCxnSpPr>
          <p:cNvPr id="17" name="Conector recto 16"/>
          <p:cNvCxnSpPr/>
          <p:nvPr/>
        </p:nvCxnSpPr>
        <p:spPr>
          <a:xfrm>
            <a:off x="35496" y="555526"/>
            <a:ext cx="7488832" cy="0"/>
          </a:xfrm>
          <a:prstGeom prst="line">
            <a:avLst/>
          </a:prstGeom>
        </p:spPr>
        <p:style>
          <a:lnRef idx="3">
            <a:schemeClr val="dk1"/>
          </a:lnRef>
          <a:fillRef idx="0">
            <a:schemeClr val="dk1"/>
          </a:fillRef>
          <a:effectRef idx="2">
            <a:schemeClr val="dk1"/>
          </a:effectRef>
          <a:fontRef idx="minor">
            <a:schemeClr val="tx1"/>
          </a:fontRef>
        </p:style>
      </p:cxnSp>
      <p:graphicFrame>
        <p:nvGraphicFramePr>
          <p:cNvPr id="3" name="Objeto 2"/>
          <p:cNvGraphicFramePr>
            <a:graphicFrameLocks noChangeAspect="1"/>
          </p:cNvGraphicFramePr>
          <p:nvPr>
            <p:extLst>
              <p:ext uri="{D42A27DB-BD31-4B8C-83A1-F6EECF244321}">
                <p14:modId xmlns:p14="http://schemas.microsoft.com/office/powerpoint/2010/main" val="891544202"/>
              </p:ext>
            </p:extLst>
          </p:nvPr>
        </p:nvGraphicFramePr>
        <p:xfrm>
          <a:off x="1043608" y="987574"/>
          <a:ext cx="5772150" cy="3248025"/>
        </p:xfrm>
        <a:graphic>
          <a:graphicData uri="http://schemas.openxmlformats.org/presentationml/2006/ole">
            <mc:AlternateContent xmlns:mc="http://schemas.openxmlformats.org/markup-compatibility/2006">
              <mc:Choice xmlns:v="urn:schemas-microsoft-com:vml" Requires="v">
                <p:oleObj spid="_x0000_s1026" name="Hoja de cálculo" r:id="rId3" imgW="5772066" imgH="3248117" progId="Excel.Sheet.12">
                  <p:embed/>
                </p:oleObj>
              </mc:Choice>
              <mc:Fallback>
                <p:oleObj name="Hoja de cálculo" r:id="rId3" imgW="5772066" imgH="3248117" progId="Excel.Sheet.12">
                  <p:embed/>
                  <p:pic>
                    <p:nvPicPr>
                      <p:cNvPr id="0" name=""/>
                      <p:cNvPicPr/>
                      <p:nvPr/>
                    </p:nvPicPr>
                    <p:blipFill>
                      <a:blip r:embed="rId4"/>
                      <a:stretch>
                        <a:fillRect/>
                      </a:stretch>
                    </p:blipFill>
                    <p:spPr>
                      <a:xfrm>
                        <a:off x="1043608" y="987574"/>
                        <a:ext cx="5772150" cy="3248025"/>
                      </a:xfrm>
                      <a:prstGeom prst="rect">
                        <a:avLst/>
                      </a:prstGeom>
                    </p:spPr>
                  </p:pic>
                </p:oleObj>
              </mc:Fallback>
            </mc:AlternateContent>
          </a:graphicData>
        </a:graphic>
      </p:graphicFrame>
    </p:spTree>
    <p:extLst>
      <p:ext uri="{BB962C8B-B14F-4D97-AF65-F5344CB8AC3E}">
        <p14:creationId xmlns:p14="http://schemas.microsoft.com/office/powerpoint/2010/main" val="3721170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7 Imagen"/>
          <p:cNvPicPr>
            <a:picLocks noChangeAspect="1"/>
          </p:cNvPicPr>
          <p:nvPr/>
        </p:nvPicPr>
        <p:blipFill>
          <a:blip r:embed="rId2"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3343070" y="1631170"/>
            <a:ext cx="2153153" cy="1516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2 Rectángulo"/>
          <p:cNvSpPr>
            <a:spLocks noChangeArrowheads="1"/>
          </p:cNvSpPr>
          <p:nvPr/>
        </p:nvSpPr>
        <p:spPr bwMode="auto">
          <a:xfrm>
            <a:off x="2530582" y="3147814"/>
            <a:ext cx="3778128" cy="408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8375" tIns="19188" rIns="38375" bIns="19188">
            <a:spAutoFit/>
          </a:bodyPr>
          <a:lstStyle>
            <a:lvl1pPr>
              <a:spcBef>
                <a:spcPct val="20000"/>
              </a:spcBef>
              <a:buFont typeface="Arial" pitchFamily="34" charset="0"/>
              <a:buChar char="•"/>
              <a:defRPr sz="7600">
                <a:solidFill>
                  <a:schemeClr val="tx1"/>
                </a:solidFill>
                <a:latin typeface="Calibri" pitchFamily="34" charset="0"/>
              </a:defRPr>
            </a:lvl1pPr>
            <a:lvl2pPr marL="742950" indent="-285750">
              <a:spcBef>
                <a:spcPct val="20000"/>
              </a:spcBef>
              <a:buFont typeface="Arial" pitchFamily="34" charset="0"/>
              <a:buChar char="–"/>
              <a:defRPr sz="6700">
                <a:solidFill>
                  <a:schemeClr val="tx1"/>
                </a:solidFill>
                <a:latin typeface="Calibri" pitchFamily="34" charset="0"/>
              </a:defRPr>
            </a:lvl2pPr>
            <a:lvl3pPr marL="1143000" indent="-228600">
              <a:spcBef>
                <a:spcPct val="20000"/>
              </a:spcBef>
              <a:buFont typeface="Arial" pitchFamily="34" charset="0"/>
              <a:buChar char="•"/>
              <a:defRPr sz="5700">
                <a:solidFill>
                  <a:schemeClr val="tx1"/>
                </a:solidFill>
                <a:latin typeface="Calibri" pitchFamily="34" charset="0"/>
              </a:defRPr>
            </a:lvl3pPr>
            <a:lvl4pPr marL="1600200" indent="-228600">
              <a:spcBef>
                <a:spcPct val="20000"/>
              </a:spcBef>
              <a:buFont typeface="Arial" pitchFamily="34" charset="0"/>
              <a:buChar char="–"/>
              <a:defRPr sz="4800">
                <a:solidFill>
                  <a:schemeClr val="tx1"/>
                </a:solidFill>
                <a:latin typeface="Calibri" pitchFamily="34" charset="0"/>
              </a:defRPr>
            </a:lvl4pPr>
            <a:lvl5pPr marL="2057400" indent="-228600">
              <a:spcBef>
                <a:spcPct val="20000"/>
              </a:spcBef>
              <a:buFont typeface="Arial" pitchFamily="34" charset="0"/>
              <a:buChar char="»"/>
              <a:defRPr sz="4800">
                <a:solidFill>
                  <a:schemeClr val="tx1"/>
                </a:solidFill>
                <a:latin typeface="Calibri" pitchFamily="34" charset="0"/>
              </a:defRPr>
            </a:lvl5pPr>
            <a:lvl6pPr marL="2514600" indent="-228600" defTabSz="1085850" eaLnBrk="0" fontAlgn="base" hangingPunct="0">
              <a:spcBef>
                <a:spcPct val="20000"/>
              </a:spcBef>
              <a:spcAft>
                <a:spcPct val="0"/>
              </a:spcAft>
              <a:buFont typeface="Arial" pitchFamily="34" charset="0"/>
              <a:buChar char="»"/>
              <a:defRPr sz="4800">
                <a:solidFill>
                  <a:schemeClr val="tx1"/>
                </a:solidFill>
                <a:latin typeface="Calibri" pitchFamily="34" charset="0"/>
              </a:defRPr>
            </a:lvl6pPr>
            <a:lvl7pPr marL="2971800" indent="-228600" defTabSz="1085850" eaLnBrk="0" fontAlgn="base" hangingPunct="0">
              <a:spcBef>
                <a:spcPct val="20000"/>
              </a:spcBef>
              <a:spcAft>
                <a:spcPct val="0"/>
              </a:spcAft>
              <a:buFont typeface="Arial" pitchFamily="34" charset="0"/>
              <a:buChar char="»"/>
              <a:defRPr sz="4800">
                <a:solidFill>
                  <a:schemeClr val="tx1"/>
                </a:solidFill>
                <a:latin typeface="Calibri" pitchFamily="34" charset="0"/>
              </a:defRPr>
            </a:lvl7pPr>
            <a:lvl8pPr marL="3429000" indent="-228600" defTabSz="1085850" eaLnBrk="0" fontAlgn="base" hangingPunct="0">
              <a:spcBef>
                <a:spcPct val="20000"/>
              </a:spcBef>
              <a:spcAft>
                <a:spcPct val="0"/>
              </a:spcAft>
              <a:buFont typeface="Arial" pitchFamily="34" charset="0"/>
              <a:buChar char="»"/>
              <a:defRPr sz="4800">
                <a:solidFill>
                  <a:schemeClr val="tx1"/>
                </a:solidFill>
                <a:latin typeface="Calibri" pitchFamily="34" charset="0"/>
              </a:defRPr>
            </a:lvl8pPr>
            <a:lvl9pPr marL="3886200" indent="-228600" defTabSz="1085850" eaLnBrk="0" fontAlgn="base" hangingPunct="0">
              <a:spcBef>
                <a:spcPct val="20000"/>
              </a:spcBef>
              <a:spcAft>
                <a:spcPct val="0"/>
              </a:spcAft>
              <a:buFont typeface="Arial" pitchFamily="34" charset="0"/>
              <a:buChar char="»"/>
              <a:defRPr sz="4800">
                <a:solidFill>
                  <a:schemeClr val="tx1"/>
                </a:solidFill>
                <a:latin typeface="Calibri" pitchFamily="34" charset="0"/>
              </a:defRPr>
            </a:lvl9pPr>
          </a:lstStyle>
          <a:p>
            <a:pPr defTabSz="455708" fontAlgn="base">
              <a:spcBef>
                <a:spcPct val="0"/>
              </a:spcBef>
              <a:spcAft>
                <a:spcPct val="0"/>
              </a:spcAft>
              <a:buNone/>
            </a:pPr>
            <a:r>
              <a:rPr lang="es-VE" altLang="es-VE" sz="1800" i="1" dirty="0">
                <a:solidFill>
                  <a:prstClr val="black"/>
                </a:solidFill>
                <a:latin typeface="+mj-lt"/>
                <a:ea typeface="MS PGothic" pitchFamily="34" charset="-128"/>
                <a:cs typeface="Arial" pitchFamily="34" charset="0"/>
              </a:rPr>
              <a:t>… Un Pequeño </a:t>
            </a:r>
            <a:r>
              <a:rPr lang="es-VE" altLang="es-VE" sz="2400" b="1" i="1" dirty="0">
                <a:solidFill>
                  <a:prstClr val="black"/>
                </a:solidFill>
                <a:latin typeface="+mj-lt"/>
                <a:ea typeface="MS PGothic" pitchFamily="34" charset="-128"/>
                <a:cs typeface="Arial" pitchFamily="34" charset="0"/>
              </a:rPr>
              <a:t>Grande</a:t>
            </a:r>
            <a:r>
              <a:rPr lang="es-VE" altLang="es-VE" sz="1800" i="1" dirty="0">
                <a:solidFill>
                  <a:prstClr val="black"/>
                </a:solidFill>
                <a:latin typeface="+mj-lt"/>
                <a:ea typeface="MS PGothic" pitchFamily="34" charset="-128"/>
                <a:cs typeface="Arial" pitchFamily="34" charset="0"/>
              </a:rPr>
              <a:t> en </a:t>
            </a:r>
            <a:r>
              <a:rPr lang="es-VE" altLang="es-VE" sz="2400" b="1" i="1" dirty="0">
                <a:solidFill>
                  <a:prstClr val="black"/>
                </a:solidFill>
                <a:latin typeface="+mj-lt"/>
                <a:ea typeface="MS PGothic" pitchFamily="34" charset="-128"/>
                <a:cs typeface="Arial" pitchFamily="34" charset="0"/>
              </a:rPr>
              <a:t>Detalles</a:t>
            </a:r>
          </a:p>
        </p:txBody>
      </p:sp>
    </p:spTree>
    <p:extLst>
      <p:ext uri="{BB962C8B-B14F-4D97-AF65-F5344CB8AC3E}">
        <p14:creationId xmlns:p14="http://schemas.microsoft.com/office/powerpoint/2010/main" val="2162117719"/>
      </p:ext>
    </p:extLst>
  </p:cSld>
  <p:clrMapOvr>
    <a:masterClrMapping/>
  </p:clrMapOvr>
  <p:timing>
    <p:tnLst>
      <p:par>
        <p:cTn id="1" dur="indefinite" restart="never" nodeType="tmRoot"/>
      </p:par>
    </p:tnLst>
  </p:timing>
</p:sld>
</file>

<file path=ppt/theme/theme1.xml><?xml version="1.0" encoding="utf-8"?>
<a:theme xmlns:a="http://schemas.openxmlformats.org/drawingml/2006/main" name="DELSUR">
  <a:themeElements>
    <a:clrScheme name="Del Su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C00000"/>
      </a:folHlink>
    </a:clrScheme>
    <a:fontScheme name="DELSUR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17251</TotalTime>
  <Words>389</Words>
  <Application>Microsoft Office PowerPoint</Application>
  <PresentationFormat>Presentación en pantalla (16:9)</PresentationFormat>
  <Paragraphs>36</Paragraphs>
  <Slides>5</Slides>
  <Notes>1</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5</vt:i4>
      </vt:variant>
    </vt:vector>
  </HeadingPairs>
  <TitlesOfParts>
    <vt:vector size="14" baseType="lpstr">
      <vt:lpstr>MS PGothic</vt:lpstr>
      <vt:lpstr>Arial</vt:lpstr>
      <vt:lpstr>Britannic Bold</vt:lpstr>
      <vt:lpstr>Calibri</vt:lpstr>
      <vt:lpstr>Myriad Pro</vt:lpstr>
      <vt:lpstr>Narkisim</vt:lpstr>
      <vt:lpstr>Tahoma</vt:lpstr>
      <vt:lpstr>DELSUR</vt:lpstr>
      <vt:lpstr>Hoja de cálculo de Microsoft Excel</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Yoleidy Perez</dc:creator>
  <cp:lastModifiedBy>Edgar Sandoval</cp:lastModifiedBy>
  <cp:revision>588</cp:revision>
  <cp:lastPrinted>2019-10-15T17:20:39Z</cp:lastPrinted>
  <dcterms:created xsi:type="dcterms:W3CDTF">2016-11-30T16:15:19Z</dcterms:created>
  <dcterms:modified xsi:type="dcterms:W3CDTF">2019-11-19T12:29:58Z</dcterms:modified>
</cp:coreProperties>
</file>